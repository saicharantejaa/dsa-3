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  <p:embeddedFont>
      <p:font typeface="Plus Jakarta Sans" panose="020B0604020202020204" charset="0"/>
      <p:regular r:id="rId21"/>
      <p:bold r:id="rId22"/>
      <p:italic r:id="rId23"/>
      <p:boldItalic r:id="rId24"/>
    </p:embeddedFont>
    <p:embeddedFont>
      <p:font typeface="Plus Jakarta Sans ExtraBold" panose="020B0604020202020204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314778-BAC3-42F1-9902-986B0C528341}">
  <a:tblStyle styleId="{7B314778-BAC3-42F1-9902-986B0C5283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04" y="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1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23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0" y="1669851"/>
            <a:ext cx="36195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3050" y="4207073"/>
            <a:ext cx="91059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155632" y="2155626"/>
            <a:ext cx="5880600" cy="11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</a:t>
            </a:r>
            <a:r>
              <a:rPr lang="en-US" sz="34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</a:t>
            </a:r>
            <a:r>
              <a:rPr lang="en-US" sz="34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sum</a:t>
            </a:r>
            <a:r>
              <a:rPr lang="en-US" sz="34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</a:t>
            </a:r>
            <a:r>
              <a:rPr lang="en-US" sz="345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–Job Matching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0" i="0" u="none" strike="noStrike" cap="non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Talent-Marketplace Engine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90750" y="3340298"/>
            <a:ext cx="781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Algorithmic System for Initial Résumé Screening, Skill Organization, and Role Shortlisting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85950" y="4426150"/>
            <a:ext cx="2766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Team Members</a:t>
            </a:r>
            <a:endParaRPr sz="1200" b="1" i="0" u="none" strike="noStrike" cap="none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CH.Ganesh -2520090112</a:t>
            </a:r>
            <a:endParaRPr sz="1200" b="0" i="0" u="none" strike="noStrike" cap="none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A.Sai Charan Teja-2520080044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4552950" y="442614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848225" y="4426148"/>
            <a:ext cx="20097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Structures &amp; Algorithms-3</a:t>
            </a:r>
            <a:endParaRPr dirty="0"/>
          </a:p>
        </p:txBody>
      </p:sp>
      <p:sp>
        <p:nvSpPr>
          <p:cNvPr id="92" name="Google Shape;92;p13"/>
          <p:cNvSpPr/>
          <p:nvPr/>
        </p:nvSpPr>
        <p:spPr>
          <a:xfrm>
            <a:off x="7143750" y="442614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439025" y="4426148"/>
            <a:ext cx="2867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Department of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CS&amp;</a:t>
            </a:r>
            <a:r>
              <a:rPr lang="en-US" sz="1200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IT and AIDS</a:t>
            </a:r>
            <a:endParaRPr dirty="0"/>
          </a:p>
        </p:txBody>
      </p:sp>
      <p:pic>
        <p:nvPicPr>
          <p:cNvPr id="6" name="Picture 5" descr="Best Private University in Telangana &amp; Andhra Pradesh | KLH Hyderabad">
            <a:extLst>
              <a:ext uri="{FF2B5EF4-FFF2-40B4-BE49-F238E27FC236}">
                <a16:creationId xmlns:a16="http://schemas.microsoft.com/office/drawing/2014/main" id="{B64842F9-8E4B-93A2-8679-15DD01DC8B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74" y="-679642"/>
            <a:ext cx="3190476" cy="2371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71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171700"/>
            <a:ext cx="5443537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6824" y="2171700"/>
            <a:ext cx="5443537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3924300"/>
            <a:ext cx="5443537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924300"/>
            <a:ext cx="5443537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3400" y="504825"/>
            <a:ext cx="18573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86975" y="504825"/>
            <a:ext cx="15716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81050" y="2867025"/>
            <a:ext cx="497681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computational tool designed to process applicant résumés and job descriptions, extract skill data, organize candidate profiles using fundamental data structures, and compute objective job-fit scores.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462712" y="2867025"/>
            <a:ext cx="497681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Hiring managers receive hundreds of applications per job posting. Manual screening is extremely slow, prone to bias, and inefficient when comparing skill sets across multiple candidates.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81050" y="4619625"/>
            <a:ext cx="497681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initial application filtering, converts unstructured text into structured candidate records, and sorts applicants by suitability to reduce recruitment turnaround time.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62712" y="4619625"/>
            <a:ext cx="49768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structured ranking of candidate profiles per job opening with percentage fit scores, enabling quick shortlisting for interview rounds.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23907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276350" y="2476500"/>
            <a:ext cx="189547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the Project </a:t>
            </a:r>
            <a:r>
              <a:rPr lang="en-US" sz="1275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endParaRPr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2712" y="23907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958012" y="2476499"/>
            <a:ext cx="1708193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It Is Needed</a:t>
            </a:r>
            <a:endParaRPr dirty="0"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81050" y="41433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1276350" y="4229100"/>
            <a:ext cx="2175304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It Helps Recruiters</a:t>
            </a:r>
            <a:endParaRPr dirty="0"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62712" y="41433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958012" y="4229100"/>
            <a:ext cx="2128323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Expected System Output</a:t>
            </a:r>
            <a:endParaRPr dirty="0"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85825" y="24955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67487" y="24955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62012" y="424815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77012" y="42481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833437" y="438150"/>
            <a:ext cx="113585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Abstract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100512"/>
            <a:ext cx="111252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195512"/>
            <a:ext cx="3568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1550" y="2195512"/>
            <a:ext cx="356874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9850" y="2195512"/>
            <a:ext cx="3568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3400" y="504825"/>
            <a:ext cx="24288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91800" y="504825"/>
            <a:ext cx="10668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752475" y="4795837"/>
            <a:ext cx="106870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By applying foundational </a:t>
            </a: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Structures and Algorithms</a:t>
            </a:r>
            <a:r>
              <a:rPr lang="en-US" sz="105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, we can systematically parse, organize, compare, and score applicant data—providing a fast and consistent automated screening engine.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52475" y="2890837"/>
            <a:ext cx="31304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Recruiting platforms receive massive volumes of applicant résumés. Reading through every document manually requires unsustainable hours of manual labor.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530625" y="2890837"/>
            <a:ext cx="313059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Candidates write the same skills in different ways (e.g., </a:t>
            </a:r>
            <a:r>
              <a:rPr lang="en-US" sz="10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"JS"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vs </a:t>
            </a:r>
            <a:r>
              <a:rPr lang="en-US" sz="10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"JavaScript"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lang="en-US" sz="10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"Python 3"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vs </a:t>
            </a:r>
            <a:r>
              <a:rPr lang="en-US" sz="10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"Python Programming"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), confusing simple filters.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08925" y="2890837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Assigning multiple applicants to suitable open roles based on varying requirements is difficult without structured sorting and indexing.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2475" y="43195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247775" y="4405312"/>
            <a:ext cx="1581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Algorithmic Solution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2475" y="24145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1247775" y="2500312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Resume Volume</a:t>
            </a:r>
            <a:endParaRPr/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30625" y="24145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5025925" y="2500312"/>
            <a:ext cx="2038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Skill Vocabulary Variations</a:t>
            </a:r>
            <a:endParaRPr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08925" y="24145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8804225" y="2500312"/>
            <a:ext cx="15716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Multi-Job Allocation</a:t>
            </a:r>
            <a:endParaRPr/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76300" y="442436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47725" y="25193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625875" y="25193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413700" y="25193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890587" y="438150"/>
            <a:ext cx="113014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&amp; Problem Statement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695825"/>
            <a:ext cx="111252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504825"/>
            <a:ext cx="27146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96487" y="504825"/>
            <a:ext cx="16621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533400" y="2190750"/>
            <a:ext cx="11125200" cy="2314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16"/>
          <p:cNvGraphicFramePr/>
          <p:nvPr/>
        </p:nvGraphicFramePr>
        <p:xfrm>
          <a:off x="533400" y="2190750"/>
          <a:ext cx="11115700" cy="2314625"/>
        </p:xfrm>
        <a:graphic>
          <a:graphicData uri="http://schemas.openxmlformats.org/drawingml/2006/table">
            <a:tbl>
              <a:tblPr firstRow="1" bandRow="1">
                <a:noFill/>
                <a:tableStyleId>{7B314778-BAC3-42F1-9902-986B0C528341}</a:tableStyleId>
              </a:tblPr>
              <a:tblGrid>
                <a:gridCol w="277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System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Core Approach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Key Limitations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Traditional ATS Tools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exact string matching for mandatory job keywords.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Rejects good candidates due to minor spelling/formatting differences.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Rule-Based Systems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IF-THEN rules set up by recruiters for filtering.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Difficult to maintain and update as job skills evolve.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Skill Matrix Tables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Tabular check-lists matching applicant skills to role lists.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Lacks automated ranking and similarity scoring metrics.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Recommenders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Simple frequency counting of matching words in text.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Overcounts repeated words regardless of candidate relevance.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2" name="Google Shape;162;p16"/>
          <p:cNvSpPr txBox="1"/>
          <p:nvPr/>
        </p:nvSpPr>
        <p:spPr>
          <a:xfrm>
            <a:off x="695325" y="4857750"/>
            <a:ext cx="108013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Takeaway for Our Project: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Existing simple systems either depend on manual entry or rigid exact text matches. There is a need for an organized, data-structure-driven matching engine that scores candidates fairly and efficiently.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38162" y="3128962"/>
            <a:ext cx="277891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3317081" y="3128962"/>
            <a:ext cx="444624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7763321" y="3128962"/>
            <a:ext cx="38905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38162" y="3529012"/>
            <a:ext cx="277891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317081" y="3529012"/>
            <a:ext cx="444624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7763321" y="3529012"/>
            <a:ext cx="38905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538162" y="3929062"/>
            <a:ext cx="277891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317081" y="3929062"/>
            <a:ext cx="444624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763321" y="3929062"/>
            <a:ext cx="38905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919162" y="438150"/>
            <a:ext cx="11272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Literature Survey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705100"/>
            <a:ext cx="5443537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705100"/>
            <a:ext cx="5443537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504825"/>
            <a:ext cx="24288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77425" y="504825"/>
            <a:ext cx="1781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2475" y="2924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1247775" y="3009900"/>
            <a:ext cx="2362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Recruitment Workflow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52475" y="3400425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Recruiters manually download and skim PDF/Word résumés.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52475" y="3695700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Search bar queries rely on exact keyword presence.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752475" y="3990975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Candidate suitability is judged subjectively by individual recruiters.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752475" y="4286250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standardized numerical score for candidate comparison.</a:t>
            </a:r>
            <a:endParaRPr/>
          </a:p>
        </p:txBody>
      </p:sp>
      <p:pic>
        <p:nvPicPr>
          <p:cNvPr id="189" name="Google Shape;18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4137" y="2924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6929437" y="3009900"/>
            <a:ext cx="15049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Major Inefficiencies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434137" y="3400425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Time-Consuming: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Days spent reading applications per open role.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434137" y="3695700"/>
            <a:ext cx="5005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High Error Rate: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Qualified candidates missed due to non-standard resume formats.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434137" y="4191000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Poor Scalability: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Performance drops rapidly as applicant count grows.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434137" y="4486275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Lack of Structure: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Information remains trapped in unstructured text files.</a:t>
            </a:r>
            <a:endParaRPr/>
          </a:p>
        </p:txBody>
      </p:sp>
      <p:pic>
        <p:nvPicPr>
          <p:cNvPr id="195" name="Google Shape;19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30289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38912" y="30289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3433762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3729037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4024312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4319587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890587" y="438150"/>
            <a:ext cx="113014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System &amp; Limitations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185987"/>
            <a:ext cx="35686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1550" y="2185987"/>
            <a:ext cx="3568749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9850" y="2185987"/>
            <a:ext cx="35686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3910012"/>
            <a:ext cx="35686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1550" y="3910012"/>
            <a:ext cx="3568749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89850" y="3910012"/>
            <a:ext cx="35686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3400" y="504825"/>
            <a:ext cx="27146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48912" y="504825"/>
            <a:ext cx="13096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752475" y="2881312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Collects résumés and job descriptions, converting unstructured text into clean data formats for processing.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4530625" y="2881312"/>
            <a:ext cx="313059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Identifies key candidate skills, experience levels, and job requirements using predefined skill dictionaries.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8308925" y="2881312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Stores candidate profiles and job requirements using efficient structures like Hash Tables and Arrays for quick lookup.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752475" y="4605337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Compares candidate skill sets against job requirements to compute a clear percentage match score.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4530625" y="4605337"/>
            <a:ext cx="31305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Sorts applicants by matching score using efficient sorting algorithms to present top candidates first.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8308925" y="4605337"/>
            <a:ext cx="3130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 shortlists for hiring managers and suggests suitable alternative roles for candidates.</a:t>
            </a:r>
            <a:endParaRPr/>
          </a:p>
        </p:txBody>
      </p:sp>
      <p:pic>
        <p:nvPicPr>
          <p:cNvPr id="222" name="Google Shape;222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2475" y="2405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1247775" y="2490787"/>
            <a:ext cx="1295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Data Ingestion</a:t>
            </a:r>
            <a:endParaRPr/>
          </a:p>
        </p:txBody>
      </p:sp>
      <p:pic>
        <p:nvPicPr>
          <p:cNvPr id="224" name="Google Shape;224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30625" y="2405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5025925" y="2490787"/>
            <a:ext cx="13239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Skill Extraction</a:t>
            </a:r>
            <a:endParaRPr/>
          </a:p>
        </p:txBody>
      </p:sp>
      <p:pic>
        <p:nvPicPr>
          <p:cNvPr id="226" name="Google Shape;226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08925" y="2405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8804225" y="2490787"/>
            <a:ext cx="1600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Data Organization</a:t>
            </a:r>
            <a:endParaRPr/>
          </a:p>
        </p:txBody>
      </p:sp>
      <p:pic>
        <p:nvPicPr>
          <p:cNvPr id="228" name="Google Shape;228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52475" y="4129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1247775" y="4214812"/>
            <a:ext cx="1790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Fit Score Calculation</a:t>
            </a:r>
            <a:endParaRPr/>
          </a:p>
        </p:txBody>
      </p:sp>
      <p:pic>
        <p:nvPicPr>
          <p:cNvPr id="230" name="Google Shape;230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30625" y="4129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5025925" y="4214812"/>
            <a:ext cx="1657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Candidate Ranking</a:t>
            </a:r>
            <a:endParaRPr/>
          </a:p>
        </p:txBody>
      </p:sp>
      <p:pic>
        <p:nvPicPr>
          <p:cNvPr id="232" name="Google Shape;232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08925" y="4129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 txBox="1"/>
          <p:nvPr/>
        </p:nvSpPr>
        <p:spPr>
          <a:xfrm>
            <a:off x="8804225" y="4214812"/>
            <a:ext cx="19335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Role Recommendation</a:t>
            </a:r>
            <a:endParaRPr/>
          </a:p>
        </p:txBody>
      </p:sp>
      <p:pic>
        <p:nvPicPr>
          <p:cNvPr id="234" name="Google Shape;234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7250" y="25098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35400" y="25098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404175" y="250983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76300" y="423386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8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625875" y="42338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389887" y="423386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919162" y="438150"/>
            <a:ext cx="11272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System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71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338637"/>
            <a:ext cx="111252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433637"/>
            <a:ext cx="54435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433637"/>
            <a:ext cx="5443537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504825"/>
            <a:ext cx="30956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44087" y="504825"/>
            <a:ext cx="18145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752475" y="4557712"/>
            <a:ext cx="106870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Design Note: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software stack is lightweight and standard, ensuring easy setup, execution, and testing across standard academic environments without complex external dependencies.</a:t>
            </a:r>
            <a:endParaRPr dirty="0"/>
          </a:p>
        </p:txBody>
      </p:sp>
      <p:sp>
        <p:nvSpPr>
          <p:cNvPr id="253" name="Google Shape;253;p19"/>
          <p:cNvSpPr txBox="1"/>
          <p:nvPr/>
        </p:nvSpPr>
        <p:spPr>
          <a:xfrm>
            <a:off x="752475" y="3178390"/>
            <a:ext cx="500538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Primary Language: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Java / HTML,CSS,JS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Format: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JSON / CSV files for résumé and job inputs</a:t>
            </a:r>
            <a:endParaRPr dirty="0"/>
          </a:p>
        </p:txBody>
      </p:sp>
      <p:sp>
        <p:nvSpPr>
          <p:cNvPr id="254" name="Google Shape;254;p19"/>
          <p:cNvSpPr txBox="1"/>
          <p:nvPr/>
        </p:nvSpPr>
        <p:spPr>
          <a:xfrm>
            <a:off x="6434137" y="3128962"/>
            <a:ext cx="5005387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IDE: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Visual Studio Code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Operating System: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Windows 10/11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Version Control: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Git &amp; GitHub for project collaboration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Database (Optional):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MySQL / SQLite for record storage</a:t>
            </a:r>
            <a:endParaRPr dirty="0"/>
          </a:p>
        </p:txBody>
      </p:sp>
      <p:pic>
        <p:nvPicPr>
          <p:cNvPr id="255" name="Google Shape;25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2475" y="26527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1247775" y="2738437"/>
            <a:ext cx="2781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Programming Languages &amp; Runtime</a:t>
            </a:r>
            <a:endParaRPr/>
          </a:p>
        </p:txBody>
      </p:sp>
      <p:pic>
        <p:nvPicPr>
          <p:cNvPr id="257" name="Google Shape;25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4137" y="26527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6929437" y="2738437"/>
            <a:ext cx="26765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Environment &amp; Tools</a:t>
            </a:r>
            <a:endParaRPr/>
          </a:p>
        </p:txBody>
      </p:sp>
      <p:pic>
        <p:nvPicPr>
          <p:cNvPr id="259" name="Google Shape;259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3437" y="275748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15100" y="2757487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9"/>
          <p:cNvSpPr txBox="1"/>
          <p:nvPr/>
        </p:nvSpPr>
        <p:spPr>
          <a:xfrm>
            <a:off x="957262" y="438150"/>
            <a:ext cx="112347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Requirements</a:t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04825"/>
            <a:ext cx="24288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86937" y="504825"/>
            <a:ext cx="187166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/>
          <p:nvPr/>
        </p:nvSpPr>
        <p:spPr>
          <a:xfrm>
            <a:off x="533400" y="2409825"/>
            <a:ext cx="11125200" cy="27908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20"/>
          <p:cNvGraphicFramePr/>
          <p:nvPr/>
        </p:nvGraphicFramePr>
        <p:xfrm>
          <a:off x="533400" y="2409825"/>
          <a:ext cx="11115675" cy="2790900"/>
        </p:xfrm>
        <a:graphic>
          <a:graphicData uri="http://schemas.openxmlformats.org/drawingml/2006/table">
            <a:tbl>
              <a:tblPr firstRow="1" bandRow="1">
                <a:noFill/>
                <a:tableStyleId>{7B314778-BAC3-42F1-9902-986B0C528341}</a:tableStyleId>
              </a:tblPr>
              <a:tblGrid>
                <a:gridCol w="27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Minimum Specification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Recommended Specification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Processor (CPU)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Intel Core i3 (Dual Core) or equivalent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Intel Core i5 / AMD Ryzen 5 or above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System Memory (RAM)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GB 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 GB RAM or higher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Storage Space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 GB available HDD/SSD space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 GB SSD storage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Display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1280 × 720 resolution screen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1920 × 1080 (Full HD) Monitor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Peripherals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Keyboard and Optical Mouse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Keyboard and Mouse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Connectivity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required for offline local processing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Internet for repository updates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2" name="Google Shape;272;p20"/>
          <p:cNvSpPr/>
          <p:nvPr/>
        </p:nvSpPr>
        <p:spPr>
          <a:xfrm>
            <a:off x="538162" y="3186112"/>
            <a:ext cx="2718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3256359" y="3186112"/>
            <a:ext cx="41380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7394376" y="3186112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538162" y="3586162"/>
            <a:ext cx="2718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3256359" y="3586162"/>
            <a:ext cx="41380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7394376" y="3586162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38162" y="3986212"/>
            <a:ext cx="2718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3256359" y="3986212"/>
            <a:ext cx="41380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7394376" y="3986212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38162" y="4386262"/>
            <a:ext cx="2718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3256359" y="4386262"/>
            <a:ext cx="41380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7394376" y="4386262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538162" y="4786312"/>
            <a:ext cx="27181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3256359" y="4786312"/>
            <a:ext cx="41380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7394376" y="4786312"/>
            <a:ext cx="425946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890587" y="438150"/>
            <a:ext cx="113014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Requirements</a:t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370040"/>
            <a:ext cx="111252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190625"/>
            <a:ext cx="11125200" cy="52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504825"/>
            <a:ext cx="30956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44100" y="504825"/>
            <a:ext cx="1714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676275" y="4512915"/>
            <a:ext cx="108394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Process Summary:</a:t>
            </a:r>
            <a:r>
              <a:rPr lang="en-US" sz="975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The pipeline receives unstructured text, transforms it into indexed data structures, performs set-overlap comparison, and outputs a sorted shortlist of best-matching candidates.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957262" y="438150"/>
            <a:ext cx="112347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Methodology</a:t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519362"/>
            <a:ext cx="5443537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519362"/>
            <a:ext cx="5443537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504825"/>
            <a:ext cx="21431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9775" y="504825"/>
            <a:ext cx="20288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2475" y="27670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1247775" y="2852737"/>
            <a:ext cx="22002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Expected Project Outcomes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752475" y="3243262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Faster Screening: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Automates initial résumé filtering in seconds.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752475" y="3519487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Objective Scoring: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Provides consistent match percentages per candidate.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752475" y="3795712"/>
            <a:ext cx="5005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Automated Ranking: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Sorts top applicants to simplify recruiter decision-making.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752475" y="4271962"/>
            <a:ext cx="5005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Practical DSA Application: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Demonstrates real-world usage of arrays, hash tables, and sorting.</a:t>
            </a:r>
            <a:endParaRPr/>
          </a:p>
        </p:txBody>
      </p:sp>
      <p:pic>
        <p:nvPicPr>
          <p:cNvPr id="316" name="Google Shape;31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4137" y="27670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2"/>
          <p:cNvSpPr txBox="1"/>
          <p:nvPr/>
        </p:nvSpPr>
        <p:spPr>
          <a:xfrm>
            <a:off x="6929437" y="2852737"/>
            <a:ext cx="23526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Scope (Advanced DSA)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6434137" y="3243262"/>
            <a:ext cx="5005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String Matching (KMP &amp; Rabin-Karp):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 high-speed pattern searching across large text databases.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6434137" y="3719512"/>
            <a:ext cx="5005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Dynamic Programming (Edit Distance):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handle spelling variations and typos automatically.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6434137" y="4195762"/>
            <a:ext cx="5005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Network Flow (Edmonds-Karp):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 multi-role candidate assignment under capacity limits.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434137" y="4672012"/>
            <a:ext cx="50053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Set Cover Optimization: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assemble optimal teams with minimal hiring costs.</a:t>
            </a:r>
            <a:endParaRPr/>
          </a:p>
        </p:txBody>
      </p:sp>
      <p:pic>
        <p:nvPicPr>
          <p:cNvPr id="322" name="Google Shape;322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28717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38912" y="28717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327660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355282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38290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475" y="4305300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862012" y="438150"/>
            <a:ext cx="113299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Expected Outcome &amp; Conclusion</a:t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968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</vt:lpstr>
      <vt:lpstr>Inter SemiBold</vt:lpstr>
      <vt:lpstr>Calibri</vt:lpstr>
      <vt:lpstr>Arial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Ganesh CH</cp:lastModifiedBy>
  <cp:revision>2</cp:revision>
  <dcterms:modified xsi:type="dcterms:W3CDTF">2026-08-18T04:08:09Z</dcterms:modified>
</cp:coreProperties>
</file>